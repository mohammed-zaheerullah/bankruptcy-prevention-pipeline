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Companies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invertIfNegative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non-bankruptcy</c:v>
                </c:pt>
                <c:pt idx="1">
                  <c:v>bankruptcy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11-4144-B40F-42773005491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279A30F8-E589-CECE-A630-958041A5F1E3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3383280" cy="3200400"/>
        </a:xfrm>
        <a:prstGeom xmlns:a="http://schemas.openxmlformats.org/drawingml/2006/main" prst="rect">
          <a:avLst/>
        </a:prstGeom>
      </cdr:spPr>
    </cdr:pic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88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763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97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1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0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84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59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89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39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0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69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9218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35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8717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18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358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77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12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7450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232D37"/>
                </a:solidFill>
              </a:defRPr>
            </a:pPr>
            <a:r>
              <a:rPr dirty="0"/>
              <a:t>Bankruptcy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A646E"/>
                </a:solidFill>
              </a:defRPr>
            </a:pPr>
            <a:r>
              <a:t>Machine Learning Classification &amp; Streamlit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8404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250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Original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38404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103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Unique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384048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6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Risk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9AAE6B-291D-489F-1A84-70257EDEFE45}"/>
              </a:ext>
            </a:extLst>
          </p:cNvPr>
          <p:cNvSpPr txBox="1"/>
          <p:nvPr/>
        </p:nvSpPr>
        <p:spPr>
          <a:xfrm>
            <a:off x="2281084" y="1351133"/>
            <a:ext cx="757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sz="4000" b="1" i="0" dirty="0">
                <a:solidFill>
                  <a:schemeClr val="tx1"/>
                </a:solidFill>
                <a:effectLst/>
                <a:latin typeface="+mn-lt"/>
              </a:rPr>
              <a:t>🏦</a:t>
            </a:r>
            <a:endParaRPr lang="en-IN" sz="4000" b="1" i="0" dirty="0">
              <a:solidFill>
                <a:srgbClr val="FAFAFA"/>
              </a:solidFill>
              <a:effectLst/>
              <a:latin typeface="Sourc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7"/>
                </a:solidFill>
              </a:defRPr>
            </a:pPr>
            <a:r>
              <a:t>1.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Business objective and ML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35712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Identify whether a company belongs to the bankruptcy or non-bankruptcy class.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Use six business-risk indicators as predictive inputs.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ML task: supervised binary classification.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Target variable: class — bankruptcy = 1, non-bankruptcy = 0.</a:t>
            </a:r>
          </a:p>
          <a:p>
            <a:pPr>
              <a:spcAft>
                <a:spcPts val="1000"/>
              </a:spcAft>
              <a:defRPr sz="2000">
                <a:solidFill>
                  <a:srgbClr val="232D37"/>
                </a:solidFill>
              </a:defRPr>
            </a:pPr>
            <a:r>
              <a:t>Objective: provide an early-risk prediction interface for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7"/>
                </a:solidFill>
              </a:defRPr>
            </a:pPr>
            <a:r>
              <a:t>2. Dataset &amp;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Six predictors and one target variable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Industrial Risk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Input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41732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Management Risk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Input 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1732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Financial Flexibility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Input 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Credibility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Input Feature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74320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Competitiveness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Input Feature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74320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Operating Risk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Input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Original records: 250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Exact duplicate rows detected: 147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Final records after duplicate removal: 103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Risk values are represented using 0, 0.5 and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7"/>
                </a:solidFill>
              </a:defRPr>
            </a:pPr>
            <a:r>
              <a:t>3. Data Preprocessing &amp;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Cleaning, validation and 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6675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Checked structure, data types and descriptive statistics.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Checked missing values and feature values.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Removed exact duplicate rows before model training.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Inspected outliers; predefined risk scores were retained as valid values.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Analyzed target distribution and feature relationships.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Encoded target: bankruptcy = 1, non-bankruptcy = 0.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459007"/>
              </p:ext>
            </p:extLst>
          </p:nvPr>
        </p:nvGraphicFramePr>
        <p:xfrm>
          <a:off x="7177548" y="1613473"/>
          <a:ext cx="4023852" cy="3813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51E049-5DFE-0D60-7133-143396FBA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603"/>
            <a:ext cx="12192000" cy="689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436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7"/>
                </a:solidFill>
              </a:defRPr>
            </a:pPr>
            <a:r>
              <a:t>4. Machine Learning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From cleaned data to deployed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148840"/>
            <a:ext cx="1371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accent1"/>
                </a:solidFill>
              </a:rPr>
              <a:t>Clean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4248" y="2148840"/>
            <a:ext cx="1371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accent1"/>
                </a:solidFill>
              </a:rPr>
              <a:t>Encode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48456" y="2148840"/>
            <a:ext cx="1371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accent1"/>
                </a:solidFill>
              </a:rPr>
              <a:t>80/20 Stratified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12664" y="2148840"/>
            <a:ext cx="1371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accent1"/>
                </a:solidFill>
              </a:rPr>
              <a:t>Scale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76872" y="2148840"/>
            <a:ext cx="1371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accent1"/>
                </a:solidFill>
              </a:rPr>
              <a:t>Train 4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2148840"/>
            <a:ext cx="1371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>
                <a:solidFill>
                  <a:schemeClr val="accent1"/>
                </a:solidFill>
              </a:rPr>
              <a:t>Evaluate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87000" y="2112952"/>
            <a:ext cx="1371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 err="1">
                <a:solidFill>
                  <a:schemeClr val="accent1"/>
                </a:solidFill>
              </a:rPr>
              <a:t>Streamlit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Logistic Regression and KNN use StandardScaler through a Pipeline.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Decision Tree and Random Forest use the risk-score features directly.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</a:defRPr>
            </a:pPr>
            <a:r>
              <a:t>Train/test split uses test_size=0.20, random_state=42 and stratify=y.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7"/>
                </a:solidFill>
              </a:defRPr>
            </a:pPr>
            <a:r>
              <a:t>5. Classification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Four algorithms implemented individually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5029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Logistic Regression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Linear baseline + StandardScaler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79" y="1463040"/>
            <a:ext cx="5029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KNN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Distance-based + StandardScaler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566160"/>
            <a:ext cx="5029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Decision Tree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Interpretable tree; max_depth=4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79" y="3566160"/>
            <a:ext cx="5029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Random Forest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200 trees; max_depth=5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7"/>
                </a:solidFill>
              </a:defRPr>
            </a:pPr>
            <a:r>
              <a:t>6. Model Evaluation &amp;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Results from the uploaded application configuration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95.24%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80.00%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88.89%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95.24%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80.00%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88.89%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95.24%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80.00%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88.89%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95.24%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80.00%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32D37"/>
                          </a:solidFill>
                        </a:defRPr>
                      </a:pPr>
                      <a:r>
                        <a:t>88.89%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892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</a:defRPr>
            </a:pPr>
            <a:r>
              <a:t>Best test accuracy on this split: Logistic Regression (95.24%).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</a:defRPr>
            </a:pPr>
            <a:r>
              <a:t>Bankruptcy recall is especially important because false negatives can be costly.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</a:defRPr>
            </a:pPr>
            <a:r>
              <a:t>The cleaned dataset is small, so performance should be interpreted cautiously.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7"/>
                </a:solidFill>
              </a:defRPr>
            </a:pPr>
            <a:r>
              <a:t>7. Feature Importance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Random Forest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52958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>
                <a:solidFill>
                  <a:schemeClr val="accent1"/>
                </a:solidFill>
              </a:rPr>
              <a:t>Competitiveness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1362456"/>
            <a:ext cx="5394960" cy="256032"/>
          </a:xfrm>
          <a:prstGeom prst="rect">
            <a:avLst/>
          </a:prstGeom>
          <a:solidFill>
            <a:srgbClr val="46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49640" y="13258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0.571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64660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>
                <a:solidFill>
                  <a:schemeClr val="accent1"/>
                </a:solidFill>
              </a:rPr>
              <a:t>Financial Flexibility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2002536"/>
            <a:ext cx="1688712" cy="256032"/>
          </a:xfrm>
          <a:prstGeom prst="rect">
            <a:avLst/>
          </a:prstGeom>
          <a:solidFill>
            <a:srgbClr val="46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19659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0.179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39"/>
            <a:ext cx="98777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>
                <a:solidFill>
                  <a:schemeClr val="accent1"/>
                </a:solidFill>
              </a:rPr>
              <a:t>Credibility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642615"/>
            <a:ext cx="1656558" cy="256032"/>
          </a:xfrm>
          <a:prstGeom prst="rect">
            <a:avLst/>
          </a:prstGeom>
          <a:solidFill>
            <a:srgbClr val="46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26060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0.175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121860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>
                <a:solidFill>
                  <a:schemeClr val="accent1"/>
                </a:solidFill>
              </a:rPr>
              <a:t>Industrial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3282696"/>
            <a:ext cx="291568" cy="256032"/>
          </a:xfrm>
          <a:prstGeom prst="rect">
            <a:avLst/>
          </a:prstGeom>
          <a:solidFill>
            <a:srgbClr val="46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32461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0.031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134684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>
                <a:solidFill>
                  <a:schemeClr val="accent1"/>
                </a:solidFill>
              </a:rPr>
              <a:t>Operating Risk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3922776"/>
            <a:ext cx="276245" cy="256032"/>
          </a:xfrm>
          <a:prstGeom prst="rect">
            <a:avLst/>
          </a:prstGeom>
          <a:solidFill>
            <a:srgbClr val="46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49640" y="38862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0.029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164019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>
                <a:solidFill>
                  <a:schemeClr val="accent1"/>
                </a:solidFill>
              </a:rPr>
              <a:t>Management Risk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4562856"/>
            <a:ext cx="132867" cy="256032"/>
          </a:xfrm>
          <a:prstGeom prst="rect">
            <a:avLst/>
          </a:prstGeom>
          <a:solidFill>
            <a:srgbClr val="46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4526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0.014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949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</a:defRPr>
            </a:pPr>
            <a:r>
              <a:t>Highest importance in this run: Competitiveness.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</a:defRPr>
            </a:pPr>
            <a:r>
              <a:t>Feature importance indicates predictive contribution, not causation.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</a:defRPr>
            </a:pPr>
            <a:r>
              <a:t>Insights should support further business investigation.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7"/>
                </a:solidFill>
              </a:defRPr>
            </a:pPr>
            <a:r>
              <a:t>8. Streamlit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Interactive prediction and model evaluation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6949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Home: project overview, dataset statistics and target distribution.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Prediction: select one of four models and enter six risk scores.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Output: Bankruptcy / Non-Bankruptcy and probabilities when available.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Model Performance: accuracy, classification reports and confusion matrices.</a:t>
            </a:r>
          </a:p>
          <a:p>
            <a:pPr>
              <a:spcAft>
                <a:spcPts val="1000"/>
              </a:spcAft>
              <a:defRPr sz="1700">
                <a:solidFill>
                  <a:srgbClr val="232D37"/>
                </a:solidFill>
              </a:defRPr>
            </a:pPr>
            <a:r>
              <a:t>Dataset Analysis: cleaned data, statistics and Random Forest feature importance.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150876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Prediction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Interactive model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97180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Performance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Metrics + confusion matrices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443484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32D37"/>
                </a:solidFill>
              </a:defRPr>
            </a:pPr>
            <a:r>
              <a:t>Analysis</a:t>
            </a:r>
          </a:p>
          <a:p>
            <a:pPr algn="ctr">
              <a:defRPr sz="1000">
                <a:solidFill>
                  <a:srgbClr val="5A646E"/>
                </a:solidFill>
              </a:defRPr>
            </a:pPr>
            <a:r>
              <a:t>Data + feature importance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39F032-E467-EC37-32F7-EF678DFF5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03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D37"/>
                </a:solidFill>
              </a:defRPr>
            </a:pPr>
            <a:r>
              <a:t>9.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46E"/>
                </a:solidFill>
              </a:defRPr>
            </a:pPr>
            <a:r>
              <a:t>Project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Built an end-to-end bankruptcy classification workflow from preprocessing to deployment.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Compared four classification algorithms using common evaluation metrics.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Developed an interactive Streamlit application for prediction and model analysis.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Demonstrated practical skills in Python, Pandas, Scikit-learn, visualization and deployment.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</a:defRPr>
            </a:pPr>
            <a:r>
              <a:t>Future scope: collect more real-world data, strengthen cross-validation/tuning, monitor bankruptcy recall, calibrate probabilities and add model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46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</TotalTime>
  <Words>623</Words>
  <Application>Microsoft Office PowerPoint</Application>
  <PresentationFormat>Widescreen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Century Gothic</vt:lpstr>
      <vt:lpstr>Source Sans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mahesh goud kosuri</dc:creator>
  <cp:keywords/>
  <dc:description>generated using python-pptx</dc:description>
  <cp:lastModifiedBy>mahesh goud kosuri</cp:lastModifiedBy>
  <cp:revision>2</cp:revision>
  <dcterms:created xsi:type="dcterms:W3CDTF">2013-01-27T09:14:16Z</dcterms:created>
  <dcterms:modified xsi:type="dcterms:W3CDTF">2026-09-07T10:17:26Z</dcterms:modified>
  <cp:category/>
</cp:coreProperties>
</file>